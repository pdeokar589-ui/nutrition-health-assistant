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6"/>
  </p:notesMasterIdLst>
  <p:sldIdLst>
    <p:sldId id="283" r:id="rId2"/>
    <p:sldId id="257" r:id="rId3"/>
    <p:sldId id="282" r:id="rId4"/>
    <p:sldId id="285" r:id="rId5"/>
    <p:sldId id="278" r:id="rId6"/>
    <p:sldId id="281" r:id="rId7"/>
    <p:sldId id="279" r:id="rId8"/>
    <p:sldId id="264" r:id="rId9"/>
    <p:sldId id="286" r:id="rId10"/>
    <p:sldId id="287" r:id="rId11"/>
    <p:sldId id="280" r:id="rId12"/>
    <p:sldId id="288" r:id="rId13"/>
    <p:sldId id="289" r:id="rId14"/>
    <p:sldId id="290" r:id="rId1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8" d="100"/>
          <a:sy n="68" d="100"/>
        </p:scale>
        <p:origin x="102"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notesMaster" Target="notesMasters/notesMaster1.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a:t>
            </a:r>
            <a:r>
              <a:rPr lang="en-US" b="1" i="1" err="1"/>
              <a:t>LangFlow</a:t>
            </a:r>
            <a:r>
              <a:rPr lang="en-US" b="1" i="1"/>
              <a:t>”</a:t>
            </a:r>
            <a:endParaRPr lang="en-IN"/>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3499024235"/>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Mobile number</a:t>
                      </a:r>
                      <a:endParaRPr sz="1800" b="0" i="0" u="none" strike="noStrike" cap="none" dirty="0">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[WhatsApp]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IN" dirty="0"/>
                        <a:t>PALLAVI DEOKAR</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dirty="0"/>
                        <a:t>pallavideokar0304@gmail.com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dirty="0"/>
                        <a:t>7709834049</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74792"/>
            <a:ext cx="10280254" cy="461665"/>
          </a:xfrm>
          <a:prstGeom prst="rect">
            <a:avLst/>
          </a:prstGeom>
          <a:noFill/>
        </p:spPr>
        <p:txBody>
          <a:bodyPr wrap="square" rtlCol="0">
            <a:spAutoFit/>
          </a:bodyPr>
          <a:lstStyle/>
          <a:p>
            <a:r>
              <a:rPr lang="en-US" sz="2400" b="1" dirty="0"/>
              <a:t>Domain of  Project –  Healthcare</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830997"/>
          </a:xfrm>
          <a:prstGeom prst="rect">
            <a:avLst/>
          </a:prstGeom>
          <a:noFill/>
        </p:spPr>
        <p:txBody>
          <a:bodyPr wrap="square" rtlCol="0">
            <a:spAutoFit/>
          </a:bodyPr>
          <a:lstStyle/>
          <a:p>
            <a:r>
              <a:rPr lang="en-US" sz="2400" b="1" dirty="0"/>
              <a:t>Project Tile –AI Nutrition agent Personalized &amp;  health assistant using IBM GRANITE&lt;LANGFLOW and RAG</a:t>
            </a:r>
            <a:endParaRPr lang="en-IN" sz="2400" b="1" dirty="0">
              <a:highlight>
                <a:srgbClr val="FFFF00"/>
              </a:highlight>
            </a:endParaRPr>
          </a:p>
        </p:txBody>
      </p:sp>
      <p:sp>
        <p:nvSpPr>
          <p:cNvPr id="3" name="TextBox 2">
            <a:extLst>
              <a:ext uri="{FF2B5EF4-FFF2-40B4-BE49-F238E27FC236}">
                <a16:creationId xmlns:a16="http://schemas.microsoft.com/office/drawing/2014/main" id="{B0B023FA-CFEB-ACE9-8425-7E72E307CDC5}"/>
              </a:ext>
            </a:extLst>
          </p:cNvPr>
          <p:cNvSpPr txBox="1"/>
          <p:nvPr/>
        </p:nvSpPr>
        <p:spPr>
          <a:xfrm>
            <a:off x="1211005" y="5220499"/>
            <a:ext cx="6456743"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solidFill>
                  <a:srgbClr val="FF0000"/>
                </a:solidFill>
              </a:rPr>
              <a:t>Recommended font style and size:</a:t>
            </a:r>
            <a:br>
              <a:rPr lang="en-US" sz="2000">
                <a:solidFill>
                  <a:srgbClr val="FF0000"/>
                </a:solidFill>
              </a:rPr>
            </a:br>
            <a:br>
              <a:rPr lang="en-US" sz="2000"/>
            </a:br>
            <a:r>
              <a:rPr lang="en-US" sz="2000">
                <a:solidFill>
                  <a:srgbClr val="FF0000"/>
                </a:solidFill>
              </a:rPr>
              <a:t>Font Style: Arial</a:t>
            </a:r>
            <a:br>
              <a:rPr lang="en-US" sz="2000">
                <a:solidFill>
                  <a:srgbClr val="FF0000"/>
                </a:solidFill>
              </a:rPr>
            </a:br>
            <a:r>
              <a:rPr lang="en-US" sz="2000">
                <a:solidFill>
                  <a:srgbClr val="FF0000"/>
                </a:solidFill>
              </a:rPr>
              <a:t>Font Size (Heading): 28</a:t>
            </a:r>
          </a:p>
          <a:p>
            <a:r>
              <a:rPr lang="en-US" sz="2000">
                <a:solidFill>
                  <a:srgbClr val="FF0000"/>
                </a:solidFill>
              </a:rPr>
              <a:t>Font Size (Content): 20</a:t>
            </a:r>
          </a:p>
        </p:txBody>
      </p:sp>
    </p:spTree>
  </p:cSld>
  <p:clrMapOvr>
    <a:masterClrMapping/>
  </p:clrMapOvr>
  <mc:AlternateContent xmlns:mc="http://schemas.openxmlformats.org/markup-compatibility/2006" xmlns:p14="http://schemas.microsoft.com/office/powerpoint/2010/main">
    <mc:Choice Requires="p14">
      <p:transition spd="slow" p14:dur="2000" advTm="1461"/>
    </mc:Choice>
    <mc:Fallback xmlns="">
      <p:transition spd="slow" advTm="1461"/>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5478423"/>
          </a:xfrm>
          <a:prstGeom prst="rect">
            <a:avLst/>
          </a:prstGeom>
          <a:noFill/>
        </p:spPr>
        <p:txBody>
          <a:bodyPr wrap="square" rtlCol="0">
            <a:spAutoFit/>
          </a:bodyPr>
          <a:lstStyle/>
          <a:p>
            <a:pPr fontAlgn="base"/>
            <a:r>
              <a:rPr lang="en-US" b="1" dirty="0"/>
              <a:t>Problem Statement : Nutrition Agent</a:t>
            </a:r>
            <a:r>
              <a:rPr lang="en-US" dirty="0"/>
              <a:t> </a:t>
            </a:r>
          </a:p>
          <a:p>
            <a:pPr fontAlgn="base"/>
            <a:endParaRPr lang="en-US" b="1" dirty="0"/>
          </a:p>
          <a:p>
            <a:pPr fontAlgn="base"/>
            <a:r>
              <a:rPr lang="en-US" b="1" dirty="0"/>
              <a:t>The Challenge</a:t>
            </a:r>
            <a:r>
              <a:rPr lang="en-US" dirty="0"/>
              <a:t> </a:t>
            </a:r>
          </a:p>
          <a:p>
            <a:pPr marL="285750" indent="-285750" fontAlgn="base">
              <a:buFont typeface="Arial" panose="020B0604020202020204" pitchFamily="34" charset="0"/>
              <a:buChar char="•"/>
            </a:pPr>
            <a:r>
              <a:rPr lang="en-US" dirty="0"/>
              <a:t> Many people struggle to maintain a healthy diet.</a:t>
            </a:r>
          </a:p>
          <a:p>
            <a:pPr marL="285750" indent="-285750" fontAlgn="base">
              <a:buFont typeface="Arial" panose="020B0604020202020204" pitchFamily="34" charset="0"/>
              <a:buChar char="•"/>
            </a:pPr>
            <a:r>
              <a:rPr lang="en-US" dirty="0"/>
              <a:t> Diet planning and calorie tracking are time-consuming.</a:t>
            </a:r>
          </a:p>
          <a:p>
            <a:pPr marL="285750" indent="-285750" fontAlgn="base">
              <a:buFont typeface="Arial" panose="020B0604020202020204" pitchFamily="34" charset="0"/>
              <a:buChar char="•"/>
            </a:pPr>
            <a:r>
              <a:rPr lang="en-US" dirty="0"/>
              <a:t> Nutrition information is scattered across multiple sources</a:t>
            </a:r>
          </a:p>
          <a:p>
            <a:pPr marL="285750" indent="-285750" fontAlgn="base">
              <a:buFont typeface="Arial" panose="020B0604020202020204" pitchFamily="34" charset="0"/>
              <a:buChar char="•"/>
            </a:pPr>
            <a:r>
              <a:rPr lang="en-US" dirty="0"/>
              <a:t> Existing apps do not provide personalized, AI-based guidance.</a:t>
            </a:r>
          </a:p>
          <a:p>
            <a:pPr marL="285750" indent="-285750" fontAlgn="base">
              <a:buFont typeface="Arial" panose="020B0604020202020204" pitchFamily="34" charset="0"/>
              <a:buChar char="•"/>
            </a:pPr>
            <a:r>
              <a:rPr lang="en-US" dirty="0"/>
              <a:t> Users need real-time health recommendations based on their profile.</a:t>
            </a:r>
          </a:p>
          <a:p>
            <a:pPr fontAlgn="base"/>
            <a:endParaRPr lang="en-US" dirty="0"/>
          </a:p>
          <a:p>
            <a:pPr fontAlgn="base"/>
            <a:r>
              <a:rPr lang="en-US" b="1" dirty="0"/>
              <a:t>The Objective</a:t>
            </a:r>
            <a:r>
              <a:rPr lang="en-US" dirty="0"/>
              <a:t> </a:t>
            </a:r>
          </a:p>
          <a:p>
            <a:pPr fontAlgn="base"/>
            <a:r>
              <a:rPr lang="en-US" dirty="0"/>
              <a:t>    Build an </a:t>
            </a:r>
            <a:r>
              <a:rPr lang="en-US" b="1" dirty="0"/>
              <a:t>AI-powered Nutrition Agent</a:t>
            </a:r>
            <a:r>
              <a:rPr lang="en-US" dirty="0"/>
              <a:t> that delivers </a:t>
            </a:r>
            <a:r>
              <a:rPr lang="en-US" b="1" dirty="0"/>
              <a:t>personalized dietary insights and guidance</a:t>
            </a:r>
            <a:r>
              <a:rPr lang="en-US" dirty="0"/>
              <a:t> for individuals, families, and                                       health professionals. The solution should: </a:t>
            </a:r>
          </a:p>
          <a:p>
            <a:pPr marL="285750" indent="-285750" fontAlgn="base">
              <a:buFont typeface="Arial" panose="020B0604020202020204" pitchFamily="34" charset="0"/>
              <a:buChar char="•"/>
            </a:pPr>
            <a:r>
              <a:rPr lang="en-US" b="1" dirty="0"/>
              <a:t>Personalized Diet Plans</a:t>
            </a:r>
            <a:r>
              <a:rPr lang="en-US" dirty="0"/>
              <a:t> – Recommend meals based on age, health conditions, allergies, cultural preferences, and fitness goals. </a:t>
            </a:r>
          </a:p>
          <a:p>
            <a:pPr marL="285750" indent="-285750" fontAlgn="base">
              <a:buFont typeface="Arial" panose="020B0604020202020204" pitchFamily="34" charset="0"/>
              <a:buChar char="•"/>
            </a:pPr>
            <a:r>
              <a:rPr lang="en-US" b="1" dirty="0"/>
              <a:t>Food Data RAG Retrieval</a:t>
            </a:r>
            <a:r>
              <a:rPr lang="en-US" dirty="0"/>
              <a:t> – Fetch and summarize nutritional values (calories, macros, vitamins) from reliable sources. </a:t>
            </a:r>
          </a:p>
          <a:p>
            <a:pPr marL="285750" indent="-285750" fontAlgn="base">
              <a:buFont typeface="Arial" panose="020B0604020202020204" pitchFamily="34" charset="0"/>
              <a:buChar char="•"/>
            </a:pPr>
            <a:r>
              <a:rPr lang="en-US" b="1" dirty="0"/>
              <a:t>Diet Tracking &amp; Feedback</a:t>
            </a:r>
            <a:r>
              <a:rPr lang="en-US" dirty="0"/>
              <a:t> – Allow users to log meals via text, images, or voice, and provide instant nutritional analysis. </a:t>
            </a:r>
          </a:p>
          <a:p>
            <a:pPr marL="285750" indent="-285750" fontAlgn="base">
              <a:buFont typeface="Arial" panose="020B0604020202020204" pitchFamily="34" charset="0"/>
              <a:buChar char="•"/>
            </a:pPr>
            <a:r>
              <a:rPr lang="en-US" b="1" dirty="0"/>
              <a:t>Preventive Health Focus</a:t>
            </a:r>
            <a:r>
              <a:rPr lang="en-US" dirty="0"/>
              <a:t> – Suggest diets for chronic disease management (e.g., diabetes-friendly or heart-healthy plans). </a:t>
            </a:r>
          </a:p>
          <a:p>
            <a:pPr marL="285750" indent="-285750" fontAlgn="base">
              <a:buFont typeface="Arial" panose="020B0604020202020204" pitchFamily="34" charset="0"/>
              <a:buChar char="•"/>
            </a:pPr>
            <a:r>
              <a:rPr lang="en-US" b="1" dirty="0"/>
              <a:t>Multi-Agent System</a:t>
            </a:r>
            <a:r>
              <a:rPr lang="en-US" dirty="0"/>
              <a:t> – </a:t>
            </a:r>
          </a:p>
          <a:p>
            <a:pPr marL="285750" indent="-285750" fontAlgn="base">
              <a:buFont typeface="Arial" panose="020B0604020202020204" pitchFamily="34" charset="0"/>
              <a:buChar char="•"/>
            </a:pPr>
            <a:r>
              <a:rPr lang="en-US" b="1" dirty="0"/>
              <a:t>Nutrition Knowledge Agent</a:t>
            </a:r>
            <a:r>
              <a:rPr lang="en-US" dirty="0"/>
              <a:t> (fetches nutritional data) </a:t>
            </a:r>
          </a:p>
          <a:p>
            <a:pPr marL="285750" indent="-285750" fontAlgn="base">
              <a:buFont typeface="Arial" panose="020B0604020202020204" pitchFamily="34" charset="0"/>
              <a:buChar char="•"/>
            </a:pPr>
            <a:r>
              <a:rPr lang="en-US" b="1" dirty="0"/>
              <a:t>Diet Recommendation Agent</a:t>
            </a:r>
            <a:r>
              <a:rPr lang="en-US" dirty="0"/>
              <a:t> (personalized meal plans) </a:t>
            </a:r>
          </a:p>
          <a:p>
            <a:pPr marL="285750" indent="-285750" fontAlgn="base">
              <a:buFont typeface="Arial" panose="020B0604020202020204" pitchFamily="34" charset="0"/>
              <a:buChar char="•"/>
            </a:pPr>
            <a:r>
              <a:rPr lang="en-US" b="1" dirty="0"/>
              <a:t>Health Advisory Agent</a:t>
            </a:r>
            <a:r>
              <a:rPr lang="en-US" dirty="0"/>
              <a:t> (preventive health suggestions) </a:t>
            </a:r>
          </a:p>
          <a:p>
            <a:pPr marL="285750" indent="-285750" fontAlgn="base">
              <a:buFont typeface="Arial" panose="020B0604020202020204" pitchFamily="34" charset="0"/>
              <a:buChar char="•"/>
            </a:pPr>
            <a:r>
              <a:rPr lang="en-US" b="1" dirty="0"/>
              <a:t>Food Log &amp; Feedback Agent</a:t>
            </a:r>
            <a:r>
              <a:rPr lang="en-US" dirty="0"/>
              <a:t> (meal tracking + analysis) </a:t>
            </a:r>
          </a:p>
          <a:p>
            <a:pPr marL="285750" indent="-285750" fontAlgn="base">
              <a:buFont typeface="Arial" panose="020B0604020202020204" pitchFamily="34" charset="0"/>
              <a:buChar char="•"/>
            </a:pPr>
            <a:r>
              <a:rPr lang="en-US" b="1" dirty="0"/>
              <a:t>Visualization Dashboard</a:t>
            </a:r>
            <a:r>
              <a:rPr lang="en-US" dirty="0"/>
              <a:t> – Show daily/weekly nutrient intake, deficiencies, and progress toward health goals. </a:t>
            </a:r>
          </a:p>
          <a:p>
            <a:pPr fontAlgn="base"/>
            <a:endParaRPr lang="en-US" dirty="0"/>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a:t>Problem Statement -</a:t>
            </a:r>
            <a:endParaRPr lang="en-IN" sz="2400" b="1"/>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5693866"/>
          </a:xfrm>
          <a:prstGeom prst="rect">
            <a:avLst/>
          </a:prstGeom>
          <a:noFill/>
        </p:spPr>
        <p:txBody>
          <a:bodyPr wrap="square" rtlCol="0">
            <a:spAutoFit/>
          </a:bodyPr>
          <a:lstStyle/>
          <a:p>
            <a:pPr fontAlgn="base"/>
            <a:endParaRPr lang="en-US" b="1" dirty="0"/>
          </a:p>
          <a:p>
            <a:r>
              <a:rPr lang="en-US" b="1" dirty="0"/>
              <a:t>Proposed Solution: AI-Powered Nutrition Agent</a:t>
            </a:r>
          </a:p>
          <a:p>
            <a:r>
              <a:rPr lang="en-US" dirty="0"/>
              <a:t>The proposed solution is a </a:t>
            </a:r>
            <a:r>
              <a:rPr lang="en-US" b="1" dirty="0"/>
              <a:t>multi-agent AI-powered Nutrition Agent</a:t>
            </a:r>
            <a:r>
              <a:rPr lang="en-US" dirty="0"/>
              <a:t> built using </a:t>
            </a:r>
            <a:r>
              <a:rPr lang="en-US" b="1" dirty="0" err="1"/>
              <a:t>LangFlow</a:t>
            </a:r>
            <a:r>
              <a:rPr lang="en-US" b="1" dirty="0"/>
              <a:t>, IBM watsonx.ai, and Granite Models</a:t>
            </a:r>
            <a:r>
              <a:rPr lang="en-US" dirty="0"/>
              <a:t> to provide personalized, real-time dietary guidance. The system addresses challenges in diet planning, nutrition tracking, and preventive healthcare through an intelligent, modular architecture.</a:t>
            </a:r>
          </a:p>
          <a:p>
            <a:r>
              <a:rPr lang="en-US" dirty="0"/>
              <a:t>At its core, the solution uses a </a:t>
            </a:r>
            <a:r>
              <a:rPr lang="en-US" b="1" dirty="0"/>
              <a:t>Retrieval-Augmented Generation (RAG)</a:t>
            </a:r>
            <a:r>
              <a:rPr lang="en-US" dirty="0"/>
              <a:t> pipeline to fetch accurate nutritional data from trusted sources such as USDA and WHO datasets. This data is embedded and stored in a vector database, enabling the system to retrieve and summarize food nutrition details (calories, macros, vitamins) using Granite models.</a:t>
            </a:r>
          </a:p>
          <a:p>
            <a:endParaRPr lang="en-US" dirty="0"/>
          </a:p>
          <a:p>
            <a:r>
              <a:rPr lang="en-US" dirty="0"/>
              <a:t>The system consists of four key agents-</a:t>
            </a:r>
          </a:p>
          <a:p>
            <a:pPr marL="342900" indent="-342900">
              <a:buFont typeface="+mj-lt"/>
              <a:buAutoNum type="arabicPeriod"/>
            </a:pPr>
            <a:r>
              <a:rPr lang="en-US" b="1" dirty="0"/>
              <a:t>Nutrition Knowledge Agent</a:t>
            </a:r>
            <a:r>
              <a:rPr lang="en-US" dirty="0"/>
              <a:t> retrieves and summarizes nutritional information using RAG. </a:t>
            </a:r>
          </a:p>
          <a:p>
            <a:pPr marL="342900" indent="-342900">
              <a:buFont typeface="+mj-lt"/>
              <a:buAutoNum type="arabicPeriod"/>
            </a:pPr>
            <a:r>
              <a:rPr lang="en-US" b="1" dirty="0"/>
              <a:t>Diet Recommendation Agent</a:t>
            </a:r>
            <a:r>
              <a:rPr lang="en-US" dirty="0"/>
              <a:t> generates personalized meal plans based on user inputs such as age, health conditions, dietary preferences, and fitness goals. </a:t>
            </a:r>
          </a:p>
          <a:p>
            <a:pPr marL="342900" indent="-342900">
              <a:buFont typeface="+mj-lt"/>
              <a:buAutoNum type="arabicPeriod"/>
            </a:pPr>
            <a:r>
              <a:rPr lang="en-US" b="1" dirty="0"/>
              <a:t>Health Advisory Agent</a:t>
            </a:r>
            <a:r>
              <a:rPr lang="en-US" dirty="0"/>
              <a:t> provides preventive health suggestions, including disease-specific diets (e.g., diabetes-friendly or heart-healthy plans). </a:t>
            </a:r>
          </a:p>
          <a:p>
            <a:pPr marL="342900" indent="-342900">
              <a:buFont typeface="+mj-lt"/>
              <a:buAutoNum type="arabicPeriod"/>
            </a:pPr>
            <a:r>
              <a:rPr lang="en-US" b="1" dirty="0"/>
              <a:t>Food Log &amp; Feedback Agent</a:t>
            </a:r>
            <a:r>
              <a:rPr lang="en-US" dirty="0"/>
              <a:t> allows users to log meals via text, voice, or images and delivers instant nutritional analysis with actionable feedback. </a:t>
            </a:r>
          </a:p>
          <a:p>
            <a:endParaRPr lang="en-US" dirty="0"/>
          </a:p>
          <a:p>
            <a:r>
              <a:rPr lang="en-US" dirty="0"/>
              <a:t>The solution includes a </a:t>
            </a:r>
            <a:r>
              <a:rPr lang="en-US" b="1" dirty="0"/>
              <a:t>user-friendly dashboard</a:t>
            </a:r>
            <a:r>
              <a:rPr lang="en-US" dirty="0"/>
              <a:t> (built with </a:t>
            </a:r>
            <a:r>
              <a:rPr lang="en-US" dirty="0" err="1"/>
              <a:t>Streamlit</a:t>
            </a:r>
            <a:r>
              <a:rPr lang="en-US" dirty="0"/>
              <a:t> or React) that visualizes daily and weekly nutrient intake, highlights deficiencies, and tracks progress toward health goals.</a:t>
            </a:r>
          </a:p>
          <a:p>
            <a:r>
              <a:rPr lang="en-US" dirty="0" err="1"/>
              <a:t>LangFlow</a:t>
            </a:r>
            <a:r>
              <a:rPr lang="en-US" dirty="0"/>
              <a:t> is used to orchestrate agent workflows, while watsonx.ai ensures scalable model deployment, embeddings, and AI governance. Granite models power reasoning, summarization, and personalization.</a:t>
            </a:r>
          </a:p>
          <a:p>
            <a:r>
              <a:rPr lang="en-US" dirty="0"/>
              <a:t>Overall, this solution delivers an </a:t>
            </a:r>
            <a:r>
              <a:rPr lang="en-US" b="1" dirty="0"/>
              <a:t>end-to-end intelligent nutrition assistant</a:t>
            </a:r>
            <a:r>
              <a:rPr lang="en-US" dirty="0"/>
              <a:t> that promotes healthier lifestyles through personalized insights, real-time feedback, and preventive healthcare recommendations.</a:t>
            </a:r>
          </a:p>
          <a:p>
            <a:pPr fontAlgn="base"/>
            <a:endParaRPr lang="en-US" dirty="0"/>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a:t>Proposed Solution -</a:t>
            </a:r>
            <a:endParaRPr lang="en-IN" sz="2400" b="1"/>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974187" y="343955"/>
            <a:ext cx="7123176" cy="461665"/>
          </a:xfrm>
          <a:prstGeom prst="rect">
            <a:avLst/>
          </a:prstGeom>
          <a:noFill/>
        </p:spPr>
        <p:txBody>
          <a:bodyPr wrap="square" lIns="91440" tIns="45720" rIns="91440" bIns="45720" rtlCol="0" anchor="t">
            <a:spAutoFit/>
          </a:bodyPr>
          <a:lstStyle/>
          <a:p>
            <a:r>
              <a:rPr lang="en-US" sz="2400" b="1" dirty="0"/>
              <a:t>Technology Used</a:t>
            </a:r>
            <a:endParaRPr lang="en-IN" sz="24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509953" y="1305482"/>
            <a:ext cx="10515600" cy="4524315"/>
          </a:xfrm>
          <a:prstGeom prst="rect">
            <a:avLst/>
          </a:prstGeom>
          <a:noFill/>
        </p:spPr>
        <p:txBody>
          <a:bodyPr wrap="square" lIns="91440" tIns="45720" rIns="91440" bIns="45720" rtlCol="0" anchor="t">
            <a:spAutoFit/>
          </a:bodyPr>
          <a:lstStyle/>
          <a:p>
            <a:pPr marL="342900" indent="-342900">
              <a:buFont typeface="Wingdings" panose="05000000000000000000" pitchFamily="2" charset="2"/>
              <a:buChar char="Ø"/>
            </a:pPr>
            <a:r>
              <a:rPr lang="en-IN" sz="2400" dirty="0"/>
              <a:t>   </a:t>
            </a:r>
            <a:r>
              <a:rPr lang="en-IN" sz="2400" dirty="0" err="1"/>
              <a:t>Langflow</a:t>
            </a:r>
            <a:r>
              <a:rPr lang="en-IN" sz="2400" dirty="0"/>
              <a:t> – Designs and orchestrates AI agent workflows visually.</a:t>
            </a:r>
          </a:p>
          <a:p>
            <a:pPr marL="342900" indent="-342900">
              <a:buFont typeface="Wingdings" panose="05000000000000000000" pitchFamily="2" charset="2"/>
              <a:buChar char="Ø"/>
            </a:pPr>
            <a:endParaRPr lang="en-IN" sz="2400" dirty="0"/>
          </a:p>
          <a:p>
            <a:pPr marL="342900" indent="-342900">
              <a:buFont typeface="Wingdings" panose="05000000000000000000" pitchFamily="2" charset="2"/>
              <a:buChar char="Ø"/>
            </a:pPr>
            <a:r>
              <a:rPr lang="en-IN" sz="2400" dirty="0"/>
              <a:t>   IBM Granite 3.2-8B-Instruct – Provides natural language understanding,    reasoning, and personalized responses.</a:t>
            </a:r>
          </a:p>
          <a:p>
            <a:pPr marL="342900" indent="-342900">
              <a:buFont typeface="Wingdings" panose="05000000000000000000" pitchFamily="2" charset="2"/>
              <a:buChar char="Ø"/>
            </a:pPr>
            <a:r>
              <a:rPr lang="en-IN" sz="2400" dirty="0"/>
              <a:t>   IBM watsonx.ai – Handles model deployment, prompt engineering, embeddings, and AI governance.</a:t>
            </a:r>
          </a:p>
          <a:p>
            <a:pPr marL="342900" indent="-342900">
              <a:buFont typeface="Wingdings" panose="05000000000000000000" pitchFamily="2" charset="2"/>
              <a:buChar char="Ø"/>
            </a:pPr>
            <a:r>
              <a:rPr lang="en-IN" sz="2400" dirty="0"/>
              <a:t>   RAG (Retrieval-Augmented Generation) – Retrieves trusted nutrition data before generating AI responses.</a:t>
            </a:r>
          </a:p>
          <a:p>
            <a:pPr marL="342900" indent="-342900">
              <a:buFont typeface="Wingdings" panose="05000000000000000000" pitchFamily="2" charset="2"/>
              <a:buChar char="Ø"/>
            </a:pPr>
            <a:r>
              <a:rPr lang="en-IN" sz="2400" dirty="0"/>
              <a:t>  IBM Cloud – Hosts, deploys, and scales the Nutrition Agent in a secure cloud environment.</a:t>
            </a:r>
          </a:p>
          <a:p>
            <a:pPr marL="342900" indent="-342900">
              <a:buFont typeface="Wingdings" panose="05000000000000000000" pitchFamily="2" charset="2"/>
              <a:buChar char="Ø"/>
            </a:pPr>
            <a:r>
              <a:rPr lang="en-IN" sz="2400" dirty="0"/>
              <a:t>  Vector Database (FAISS/Chroma) – Stores embeddings and enables fast retrieval of nutrition knowledge for RAG</a:t>
            </a:r>
          </a:p>
        </p:txBody>
      </p:sp>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err="1">
                <a:sym typeface="Times New Roman"/>
              </a:rPr>
              <a:t>Langflow</a:t>
            </a:r>
            <a:r>
              <a:rPr lang="en-US" sz="3500" b="1" i="0" u="none" strike="noStrike" cap="none">
                <a:solidFill>
                  <a:srgbClr val="051D3A"/>
                </a:solidFill>
                <a:latin typeface="Times New Roman"/>
                <a:ea typeface="Times New Roman"/>
                <a:cs typeface="Times New Roman"/>
                <a:sym typeface="Times New Roman"/>
              </a:rPr>
              <a:t> </a:t>
            </a:r>
            <a:r>
              <a:rPr lang="en-US" sz="2400" b="1">
                <a:sym typeface="Times New Roman"/>
              </a:rPr>
              <a:t>component Used -</a:t>
            </a:r>
            <a:endParaRPr sz="2400" b="1">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5324535"/>
          </a:xfrm>
          <a:prstGeom prst="rect">
            <a:avLst/>
          </a:prstGeom>
          <a:noFill/>
        </p:spPr>
        <p:txBody>
          <a:bodyPr wrap="square" rtlCol="0">
            <a:spAutoFit/>
          </a:bodyPr>
          <a:lstStyle/>
          <a:p>
            <a:pPr marL="342900" indent="-342900">
              <a:buAutoNum type="arabicParenR"/>
            </a:pPr>
            <a:r>
              <a:rPr lang="en-US" sz="2000" dirty="0"/>
              <a:t>Chat Input – Accepts user queries, meal details, and health information (text, voice, or image).</a:t>
            </a:r>
          </a:p>
          <a:p>
            <a:pPr marL="342900" indent="-342900">
              <a:buAutoNum type="arabicParenR"/>
            </a:pPr>
            <a:endParaRPr lang="en-US" sz="2000" dirty="0"/>
          </a:p>
          <a:p>
            <a:r>
              <a:rPr lang="en-US" sz="2000" dirty="0"/>
              <a:t>2) IBM </a:t>
            </a:r>
            <a:r>
              <a:rPr lang="en-US" sz="2000" dirty="0" err="1"/>
              <a:t>watsonx</a:t>
            </a:r>
            <a:r>
              <a:rPr lang="en-US" sz="2000" dirty="0"/>
              <a:t> AI Agent – Processes user requests using the IBM Granite model and coordinates the AI workflow.</a:t>
            </a:r>
          </a:p>
          <a:p>
            <a:endParaRPr lang="en-US" sz="2000" dirty="0"/>
          </a:p>
          <a:p>
            <a:r>
              <a:rPr lang="en-US" sz="2000" dirty="0"/>
              <a:t> 3) IBM Granite 4.0-8B-Instruct – Generates personalized diet plans, nutrition analysis, and health recommendations</a:t>
            </a:r>
          </a:p>
          <a:p>
            <a:endParaRPr lang="en-US" sz="2000" dirty="0"/>
          </a:p>
          <a:p>
            <a:r>
              <a:rPr lang="en-US" sz="2000" dirty="0"/>
              <a:t>.4) Chat Output – Displays AI-generated responses, meal plans, calorie information, and health insights.</a:t>
            </a:r>
          </a:p>
          <a:p>
            <a:endParaRPr lang="en-US" sz="2000" dirty="0"/>
          </a:p>
          <a:p>
            <a:r>
              <a:rPr lang="en-US" sz="2000" dirty="0"/>
              <a:t>5) File Component – Stores and retrieves meal logs, nutrition datasets, and user records for analysis and tracking.</a:t>
            </a:r>
          </a:p>
          <a:p>
            <a:endParaRPr lang="en-US" sz="2000" dirty="0"/>
          </a:p>
          <a:p>
            <a:r>
              <a:rPr lang="en-US" sz="2000" dirty="0"/>
              <a:t>6) Prompt Template – Formats user input into structured prompts before sending it to the IBM Granite model for accurate responses.</a:t>
            </a:r>
            <a:endParaRPr lang="en-IN" sz="2000" dirty="0"/>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360691" y="0"/>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err="1">
                <a:sym typeface="Times New Roman"/>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workflow -</a:t>
            </a:r>
            <a:endParaRPr sz="2400" b="1" dirty="0">
              <a:sym typeface="Times New Roman"/>
            </a:endParaRPr>
          </a:p>
        </p:txBody>
      </p:sp>
      <p:pic>
        <p:nvPicPr>
          <p:cNvPr id="9" name="Picture 8">
            <a:extLst>
              <a:ext uri="{FF2B5EF4-FFF2-40B4-BE49-F238E27FC236}">
                <a16:creationId xmlns:a16="http://schemas.microsoft.com/office/drawing/2014/main" id="{094B0DFD-62D2-4679-9AA7-092A542E76DD}"/>
              </a:ext>
            </a:extLst>
          </p:cNvPr>
          <p:cNvPicPr>
            <a:picLocks noChangeAspect="1"/>
          </p:cNvPicPr>
          <p:nvPr/>
        </p:nvPicPr>
        <p:blipFill rotWithShape="1">
          <a:blip r:embed="rId3"/>
          <a:srcRect t="39642" b="39743"/>
          <a:stretch/>
        </p:blipFill>
        <p:spPr>
          <a:xfrm>
            <a:off x="1997612" y="872197"/>
            <a:ext cx="8496886" cy="5219114"/>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a:t>Role of Agentic AI in the solution </a:t>
            </a:r>
            <a:endParaRPr lang="en-IN" sz="3200" b="1"/>
          </a:p>
        </p:txBody>
      </p:sp>
      <p:sp>
        <p:nvSpPr>
          <p:cNvPr id="3" name="TextBox 2">
            <a:extLst>
              <a:ext uri="{FF2B5EF4-FFF2-40B4-BE49-F238E27FC236}">
                <a16:creationId xmlns:a16="http://schemas.microsoft.com/office/drawing/2014/main" id="{322462E8-EB3A-DA7D-44CB-4E757803A755}"/>
              </a:ext>
            </a:extLst>
          </p:cNvPr>
          <p:cNvSpPr txBox="1"/>
          <p:nvPr/>
        </p:nvSpPr>
        <p:spPr>
          <a:xfrm>
            <a:off x="475488" y="1010245"/>
            <a:ext cx="7406640" cy="5940088"/>
          </a:xfrm>
          <a:prstGeom prst="rect">
            <a:avLst/>
          </a:prstGeom>
          <a:noFill/>
        </p:spPr>
        <p:txBody>
          <a:bodyPr wrap="square" rtlCol="0">
            <a:spAutoFit/>
          </a:bodyPr>
          <a:lstStyle/>
          <a:p>
            <a:r>
              <a:rPr lang="en-US" sz="2000" b="1" dirty="0"/>
              <a:t>Role of Agentic AI in Nutrition Agent</a:t>
            </a:r>
          </a:p>
          <a:p>
            <a:pPr marL="285750" indent="-285750">
              <a:buFont typeface="Wingdings" panose="05000000000000000000" pitchFamily="2" charset="2"/>
              <a:buChar char="q"/>
            </a:pPr>
            <a:r>
              <a:rPr lang="en-US" sz="1800" b="1" dirty="0"/>
              <a:t>Agentic AI</a:t>
            </a:r>
            <a:r>
              <a:rPr lang="en-US" sz="1800" dirty="0"/>
              <a:t> enables the Nutrition Agent to function as an intelligent, autonomous system rather than a simple chatbot.</a:t>
            </a:r>
          </a:p>
          <a:p>
            <a:pPr marL="285750" indent="-285750">
              <a:buFont typeface="Wingdings" panose="05000000000000000000" pitchFamily="2" charset="2"/>
              <a:buChar char="q"/>
            </a:pPr>
            <a:r>
              <a:rPr lang="en-US" sz="1800" dirty="0"/>
              <a:t> Using </a:t>
            </a:r>
            <a:r>
              <a:rPr lang="en-US" sz="1800" b="1" dirty="0"/>
              <a:t>IBM watsonx.ai</a:t>
            </a:r>
            <a:r>
              <a:rPr lang="en-US" sz="1800" dirty="0"/>
              <a:t> and </a:t>
            </a:r>
            <a:r>
              <a:rPr lang="en-US" sz="1800" b="1" dirty="0"/>
              <a:t>IBM Granite models</a:t>
            </a:r>
            <a:r>
              <a:rPr lang="en-US" sz="1800" dirty="0"/>
              <a:t>, it coordinates multiple specialized agents to deliver personalized nutrition guidance.</a:t>
            </a:r>
          </a:p>
          <a:p>
            <a:pPr marL="285750" indent="-285750">
              <a:buFont typeface="Wingdings" panose="05000000000000000000" pitchFamily="2" charset="2"/>
              <a:buChar char="q"/>
            </a:pPr>
            <a:r>
              <a:rPr lang="en-US" sz="1800" dirty="0"/>
              <a:t>Each agent performs a specific role—such as retrieving nutritional data, generating diet plans, providing health advice, and analyzing food logs—while working collaboratively.</a:t>
            </a:r>
          </a:p>
          <a:p>
            <a:pPr marL="285750" indent="-285750">
              <a:buFont typeface="Wingdings" panose="05000000000000000000" pitchFamily="2" charset="2"/>
              <a:buChar char="q"/>
            </a:pPr>
            <a:r>
              <a:rPr lang="en-US" sz="1800" dirty="0"/>
              <a:t> This </a:t>
            </a:r>
            <a:r>
              <a:rPr lang="en-US" sz="1800" b="1" dirty="0"/>
              <a:t>multi-agent approach</a:t>
            </a:r>
            <a:r>
              <a:rPr lang="en-US" sz="1800" dirty="0"/>
              <a:t> ensures efficient task execution and accurate results.</a:t>
            </a:r>
          </a:p>
          <a:p>
            <a:pPr marL="285750" indent="-285750">
              <a:buFont typeface="Wingdings" panose="05000000000000000000" pitchFamily="2" charset="2"/>
              <a:buChar char="q"/>
            </a:pPr>
            <a:r>
              <a:rPr lang="en-US" sz="1800" dirty="0"/>
              <a:t>Agentic AI also brings </a:t>
            </a:r>
            <a:r>
              <a:rPr lang="en-US" sz="1800" b="1" dirty="0"/>
              <a:t>context awareness</a:t>
            </a:r>
            <a:r>
              <a:rPr lang="en-US" sz="1800" dirty="0"/>
              <a:t>, understanding user details like age, health conditions, and fitness goals to generate tailored recommendations.</a:t>
            </a:r>
          </a:p>
          <a:p>
            <a:pPr marL="285750" indent="-285750">
              <a:buFont typeface="Wingdings" panose="05000000000000000000" pitchFamily="2" charset="2"/>
              <a:buChar char="q"/>
            </a:pPr>
            <a:r>
              <a:rPr lang="en-US" sz="1800" dirty="0"/>
              <a:t> It supports </a:t>
            </a:r>
            <a:r>
              <a:rPr lang="en-US" sz="1800" b="1" dirty="0"/>
              <a:t>real-time adaptation</a:t>
            </a:r>
            <a:r>
              <a:rPr lang="en-US" sz="1800" dirty="0"/>
              <a:t>, continuously updating suggestions based on user inputs like daily meals.</a:t>
            </a:r>
          </a:p>
          <a:p>
            <a:pPr marL="285750" indent="-285750">
              <a:buFont typeface="Wingdings" panose="05000000000000000000" pitchFamily="2" charset="2"/>
              <a:buChar char="q"/>
            </a:pPr>
            <a:r>
              <a:rPr lang="en-US" sz="1800" dirty="0"/>
              <a:t>Additionally, agents communicate with each other, enabling better decision-making and improved outcomes.</a:t>
            </a:r>
          </a:p>
          <a:p>
            <a:pPr marL="285750" indent="-285750">
              <a:buFont typeface="Wingdings" panose="05000000000000000000" pitchFamily="2" charset="2"/>
              <a:buChar char="q"/>
            </a:pPr>
            <a:r>
              <a:rPr lang="en-US" sz="1800" dirty="0"/>
              <a:t>Overall, Agentic AI makes the system proactive, personalized, and goal-driven, acting like a </a:t>
            </a:r>
            <a:r>
              <a:rPr lang="en-US" sz="1800" b="1" dirty="0"/>
              <a:t>smart digital nutritionist</a:t>
            </a:r>
            <a:r>
              <a:rPr lang="en-US" sz="1800" dirty="0"/>
              <a:t> that helps users maintain a healthy lifestyle.</a:t>
            </a:r>
          </a:p>
        </p:txBody>
      </p:sp>
      <p:pic>
        <p:nvPicPr>
          <p:cNvPr id="4" name="Picture 3">
            <a:extLst>
              <a:ext uri="{FF2B5EF4-FFF2-40B4-BE49-F238E27FC236}">
                <a16:creationId xmlns:a16="http://schemas.microsoft.com/office/drawing/2014/main" id="{6364C15D-5334-45BF-B04B-A43497EE46F5}"/>
              </a:ext>
            </a:extLst>
          </p:cNvPr>
          <p:cNvPicPr>
            <a:picLocks noChangeAspect="1"/>
          </p:cNvPicPr>
          <p:nvPr/>
        </p:nvPicPr>
        <p:blipFill>
          <a:blip r:embed="rId3"/>
          <a:stretch>
            <a:fillRect/>
          </a:stretch>
        </p:blipFill>
        <p:spPr>
          <a:xfrm>
            <a:off x="8136753" y="1828800"/>
            <a:ext cx="3757173" cy="457145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a:t>Novelty and Uniqueness</a:t>
            </a:r>
            <a:endParaRPr lang="en-IN" sz="2400" b="1"/>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5293757"/>
          </a:xfrm>
          <a:prstGeom prst="rect">
            <a:avLst/>
          </a:prstGeom>
          <a:noFill/>
        </p:spPr>
        <p:txBody>
          <a:bodyPr wrap="square" rtlCol="0">
            <a:spAutoFit/>
          </a:bodyPr>
          <a:lstStyle/>
          <a:p>
            <a:r>
              <a:rPr lang="en-IN" sz="1800" dirty="0"/>
              <a:t>The proposed Nutrition Agent stands out by combining </a:t>
            </a:r>
            <a:r>
              <a:rPr lang="en-IN" sz="1800" b="1" dirty="0"/>
              <a:t>Agentic AI, RAG, and personalization</a:t>
            </a:r>
            <a:r>
              <a:rPr lang="en-IN" sz="1800" dirty="0"/>
              <a:t> into a single intelligent system.</a:t>
            </a:r>
          </a:p>
          <a:p>
            <a:endParaRPr lang="en-IN" sz="1800" dirty="0"/>
          </a:p>
          <a:p>
            <a:pPr marL="285750" indent="-285750">
              <a:buFont typeface="Wingdings" panose="05000000000000000000" pitchFamily="2" charset="2"/>
              <a:buChar char="Ø"/>
            </a:pPr>
            <a:r>
              <a:rPr lang="en-IN" sz="1800" b="1" dirty="0"/>
              <a:t>Multi-Agent Intelligence</a:t>
            </a:r>
            <a:r>
              <a:rPr lang="en-IN" sz="1800" dirty="0"/>
              <a:t> – Instead of a single chatbot, multiple specialized agents collaborate to deliver accurate and context-aware nutrition guidance. </a:t>
            </a:r>
          </a:p>
          <a:p>
            <a:pPr marL="285750" indent="-285750">
              <a:buFont typeface="Wingdings" panose="05000000000000000000" pitchFamily="2" charset="2"/>
              <a:buChar char="Ø"/>
            </a:pPr>
            <a:r>
              <a:rPr lang="en-IN" sz="1800" b="1" dirty="0"/>
              <a:t>RAG-Based Accuracy</a:t>
            </a:r>
            <a:r>
              <a:rPr lang="en-IN" sz="1800" dirty="0"/>
              <a:t> – Integrates real-time data retrieval with AI generation, reducing misinformation and ensuring trustworthy recommendations. </a:t>
            </a:r>
          </a:p>
          <a:p>
            <a:pPr marL="285750" indent="-285750">
              <a:buFont typeface="Wingdings" panose="05000000000000000000" pitchFamily="2" charset="2"/>
              <a:buChar char="Ø"/>
            </a:pPr>
            <a:r>
              <a:rPr lang="en-IN" sz="1800" b="1" dirty="0"/>
              <a:t>Hyper-Personalization</a:t>
            </a:r>
            <a:r>
              <a:rPr lang="en-IN" sz="1800" dirty="0"/>
              <a:t> – Tailors diet plans based on health conditions, cultural preferences, and fitness goals. </a:t>
            </a:r>
          </a:p>
          <a:p>
            <a:pPr marL="285750" indent="-285750">
              <a:buFont typeface="Wingdings" panose="05000000000000000000" pitchFamily="2" charset="2"/>
              <a:buChar char="Ø"/>
            </a:pPr>
            <a:r>
              <a:rPr lang="en-IN" sz="1800" b="1" dirty="0"/>
              <a:t>Real-Time Feedback Loop</a:t>
            </a:r>
            <a:r>
              <a:rPr lang="en-IN" sz="1800" dirty="0"/>
              <a:t> – Continuously adapts recommendations based on daily food logs and user </a:t>
            </a:r>
            <a:r>
              <a:rPr lang="en-IN" sz="1800" dirty="0" err="1"/>
              <a:t>behavior</a:t>
            </a:r>
            <a:r>
              <a:rPr lang="en-IN" sz="1800" dirty="0"/>
              <a:t>. </a:t>
            </a:r>
          </a:p>
          <a:p>
            <a:pPr marL="285750" indent="-285750">
              <a:buFont typeface="Wingdings" panose="05000000000000000000" pitchFamily="2" charset="2"/>
              <a:buChar char="Ø"/>
            </a:pPr>
            <a:r>
              <a:rPr lang="en-IN" sz="1800" b="1" dirty="0"/>
              <a:t>Multi-Modal Input</a:t>
            </a:r>
            <a:r>
              <a:rPr lang="en-IN" sz="1800" dirty="0"/>
              <a:t> – Supports text, voice, and image-based meal tracking for better usability. </a:t>
            </a:r>
          </a:p>
          <a:p>
            <a:pPr marL="285750" indent="-285750">
              <a:buFont typeface="Wingdings" panose="05000000000000000000" pitchFamily="2" charset="2"/>
              <a:buChar char="Ø"/>
            </a:pPr>
            <a:r>
              <a:rPr lang="en-IN" sz="1800" b="1" dirty="0"/>
              <a:t>Preventive Healthcare Focus</a:t>
            </a:r>
            <a:r>
              <a:rPr lang="en-IN" sz="1800" dirty="0"/>
              <a:t> – Goes beyond diet planning to provide disease-specific nutrition advice. </a:t>
            </a:r>
          </a:p>
          <a:p>
            <a:pPr marL="285750" indent="-285750">
              <a:buFont typeface="Wingdings" panose="05000000000000000000" pitchFamily="2" charset="2"/>
              <a:buChar char="Ø"/>
            </a:pPr>
            <a:r>
              <a:rPr lang="en-IN" sz="1800" b="1" dirty="0"/>
              <a:t>Scalable &amp; Enterprise-Ready</a:t>
            </a:r>
            <a:r>
              <a:rPr lang="en-IN" sz="1800" dirty="0"/>
              <a:t> – Built on </a:t>
            </a:r>
            <a:r>
              <a:rPr lang="en-IN" sz="1800" b="1" dirty="0"/>
              <a:t>IBM watsonx.ai</a:t>
            </a:r>
            <a:r>
              <a:rPr lang="en-IN" sz="1800" dirty="0"/>
              <a:t> with </a:t>
            </a:r>
            <a:r>
              <a:rPr lang="en-IN" sz="1800" b="1" dirty="0"/>
              <a:t>IBM Granite models</a:t>
            </a:r>
            <a:r>
              <a:rPr lang="en-IN" sz="1800" dirty="0"/>
              <a:t>, ensuring reliability and governance. </a:t>
            </a:r>
          </a:p>
          <a:p>
            <a:pPr marL="285750" indent="-285750">
              <a:buFont typeface="Wingdings" panose="05000000000000000000" pitchFamily="2" charset="2"/>
              <a:buChar char="Ø"/>
            </a:pPr>
            <a:endParaRPr lang="en-IN" sz="1800" dirty="0"/>
          </a:p>
          <a:p>
            <a:pPr marL="285750" indent="-285750">
              <a:buFont typeface="Wingdings" panose="05000000000000000000" pitchFamily="2" charset="2"/>
              <a:buChar char="Ø"/>
            </a:pPr>
            <a:r>
              <a:rPr lang="en-IN" sz="1800" dirty="0"/>
              <a:t>This makes the solution a </a:t>
            </a:r>
            <a:r>
              <a:rPr lang="en-IN" sz="1800" b="1" dirty="0"/>
              <a:t>smart, adaptive, and proactive digital nutritionist</a:t>
            </a:r>
            <a:r>
              <a:rPr lang="en-IN" sz="1800" dirty="0"/>
              <a:t>, not just a static diet recommendation tool.</a:t>
            </a:r>
            <a:endParaRPr lang="en-US" dirty="0"/>
          </a:p>
          <a:p>
            <a:endParaRPr lang="en-IN" dirty="0"/>
          </a:p>
        </p:txBody>
      </p:sp>
    </p:spTree>
    <p:extLst>
      <p:ext uri="{BB962C8B-B14F-4D97-AF65-F5344CB8AC3E}">
        <p14:creationId xmlns:p14="http://schemas.microsoft.com/office/powerpoint/2010/main" val="9179641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Please create public </a:t>
            </a:r>
            <a:r>
              <a:rPr lang="en-US" sz="1850" b="0" i="0" u="none" strike="noStrike" cap="none" dirty="0" err="1">
                <a:solidFill>
                  <a:srgbClr val="2B3541"/>
                </a:solidFill>
                <a:latin typeface="Times New Roman"/>
                <a:ea typeface="Times New Roman"/>
                <a:cs typeface="Times New Roman"/>
                <a:sym typeface="Times New Roman"/>
              </a:rPr>
              <a:t>github</a:t>
            </a:r>
            <a:r>
              <a:rPr lang="en-US" sz="1850" b="0" i="0" u="none" strike="noStrike" cap="none" dirty="0">
                <a:solidFill>
                  <a:srgbClr val="2B3541"/>
                </a:solidFill>
                <a:latin typeface="Times New Roman"/>
                <a:ea typeface="Times New Roman"/>
                <a:cs typeface="Times New Roman"/>
                <a:sym typeface="Times New Roman"/>
              </a:rPr>
              <a:t> repository (Enable Add README  button while creating repository) with format – </a:t>
            </a:r>
          </a:p>
          <a:p>
            <a:pPr marL="0" marR="0" lvl="0" indent="0" algn="l" rtl="0">
              <a:lnSpc>
                <a:spcPct val="162162"/>
              </a:lnSpc>
              <a:spcBef>
                <a:spcPts val="0"/>
              </a:spcBef>
              <a:spcAft>
                <a:spcPts val="0"/>
              </a:spcAft>
              <a:buClr>
                <a:srgbClr val="2B3541"/>
              </a:buClr>
              <a:buSzPts val="1850"/>
              <a:buFont typeface="Times New Roman"/>
              <a:buNone/>
            </a:pPr>
            <a:r>
              <a:rPr lang="en-US" sz="1850" dirty="0">
                <a:solidFill>
                  <a:srgbClr val="2B3541"/>
                </a:solidFill>
                <a:latin typeface="Times New Roman"/>
                <a:ea typeface="Times New Roman"/>
                <a:cs typeface="Times New Roman"/>
                <a:sym typeface="Times New Roman"/>
              </a:rPr>
              <a:t>Please test and Paste the working  </a:t>
            </a:r>
            <a:r>
              <a:rPr lang="en-US" sz="1850" dirty="0" err="1">
                <a:solidFill>
                  <a:srgbClr val="2B3541"/>
                </a:solidFill>
                <a:latin typeface="Times New Roman"/>
                <a:ea typeface="Times New Roman"/>
                <a:cs typeface="Times New Roman"/>
                <a:sym typeface="Times New Roman"/>
              </a:rPr>
              <a:t>Github</a:t>
            </a:r>
            <a:r>
              <a:rPr lang="en-US" sz="1850" dirty="0">
                <a:solidFill>
                  <a:srgbClr val="2B3541"/>
                </a:solidFill>
                <a:latin typeface="Times New Roman"/>
                <a:ea typeface="Times New Roman"/>
                <a:cs typeface="Times New Roman"/>
                <a:sym typeface="Times New Roman"/>
              </a:rPr>
              <a:t> URL –</a:t>
            </a:r>
            <a:endParaRPr lang="en-US" sz="1850" dirty="0">
              <a:solidFill>
                <a:srgbClr val="2B3541"/>
              </a:solidFill>
              <a:latin typeface="Times New Roman"/>
              <a:ea typeface="Times New Roman"/>
              <a:cs typeface="Times New Roman"/>
            </a:endParaRPr>
          </a:p>
          <a:p>
            <a:pPr lvl="0">
              <a:lnSpc>
                <a:spcPct val="162162"/>
              </a:lnSpc>
              <a:buClr>
                <a:srgbClr val="2B3541"/>
              </a:buClr>
              <a:buSzPts val="1850"/>
            </a:pPr>
            <a:r>
              <a:rPr lang="en-US" sz="1850" b="1" dirty="0">
                <a:solidFill>
                  <a:srgbClr val="2B3541"/>
                </a:solidFill>
                <a:latin typeface="Times New Roman"/>
                <a:ea typeface="Times New Roman"/>
                <a:cs typeface="Times New Roman"/>
                <a:sym typeface="Times New Roman"/>
              </a:rPr>
              <a:t>Make sure you have Uploaded following three files into your </a:t>
            </a:r>
            <a:r>
              <a:rPr lang="en-US" sz="1850" b="1" dirty="0" err="1">
                <a:solidFill>
                  <a:srgbClr val="2B3541"/>
                </a:solidFill>
                <a:latin typeface="Times New Roman"/>
                <a:ea typeface="Times New Roman"/>
                <a:cs typeface="Times New Roman"/>
                <a:sym typeface="Times New Roman"/>
              </a:rPr>
              <a:t>github</a:t>
            </a:r>
            <a:r>
              <a:rPr lang="en-US" sz="1850" b="1" dirty="0">
                <a:solidFill>
                  <a:srgbClr val="2B3541"/>
                </a:solidFill>
                <a:latin typeface="Times New Roman"/>
                <a:ea typeface="Times New Roman"/>
                <a:cs typeface="Times New Roman"/>
                <a:sym typeface="Times New Roman"/>
              </a:rPr>
              <a:t> repository  </a:t>
            </a:r>
            <a:br>
              <a:rPr lang="en-US" sz="1850" dirty="0">
                <a:latin typeface="Times New Roman"/>
                <a:ea typeface="Times New Roman"/>
                <a:cs typeface="Times New Roman"/>
              </a:rPr>
            </a:br>
            <a:r>
              <a:rPr lang="en-US" sz="1850" dirty="0">
                <a:solidFill>
                  <a:srgbClr val="2B3541"/>
                </a:solidFill>
                <a:latin typeface="Times New Roman"/>
                <a:ea typeface="Times New Roman"/>
                <a:cs typeface="Times New Roman"/>
                <a:sym typeface="Times New Roman"/>
              </a:rPr>
              <a:t>1) </a:t>
            </a:r>
            <a:r>
              <a:rPr lang="en-US" sz="1850" dirty="0" err="1">
                <a:solidFill>
                  <a:srgbClr val="2B3541"/>
                </a:solidFill>
                <a:latin typeface="Times New Roman"/>
                <a:ea typeface="Times New Roman"/>
                <a:cs typeface="Times New Roman"/>
                <a:sym typeface="Times New Roman"/>
              </a:rPr>
              <a:t>app.json</a:t>
            </a:r>
            <a:r>
              <a:rPr lang="en-US" sz="1850" dirty="0">
                <a:solidFill>
                  <a:srgbClr val="2B3541"/>
                </a:solidFill>
                <a:latin typeface="Times New Roman"/>
                <a:ea typeface="Times New Roman"/>
                <a:cs typeface="Times New Roman"/>
                <a:sym typeface="Times New Roman"/>
              </a:rPr>
              <a:t> file , 2) yourproblemstatement.pdf file  3) your projectpresntation.pptx file 4)any other files </a:t>
            </a:r>
            <a:endParaRPr lang="en-US" sz="1850" dirty="0">
              <a:solidFill>
                <a:srgbClr val="2B3541"/>
              </a:solidFill>
              <a:latin typeface="Times New Roman"/>
              <a:ea typeface="Times New Roman"/>
              <a:cs typeface="Times New Roman"/>
            </a:endParaRP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1" i="0" u="none" strike="noStrike" cap="none" dirty="0">
                <a:solidFill>
                  <a:srgbClr val="2B3541"/>
                </a:solidFill>
                <a:latin typeface="Times New Roman"/>
                <a:ea typeface="Times New Roman"/>
                <a:cs typeface="Times New Roman"/>
                <a:sym typeface="Times New Roman"/>
              </a:rPr>
              <a:t>1.Integration with Wearables &amp; Health Devices – </a:t>
            </a: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The system can be integrated with smartwatches and fitness trackers to collect real-time data such as steps, calories burned, heart rate, and sleep patterns. This will enable the Nutrition Agent to provide more accurate and dynamic diet recommendations based on actual user activity and health metrics.</a:t>
            </a:r>
          </a:p>
          <a:p>
            <a:pPr marL="0" marR="0" lvl="0" indent="0" algn="l" rtl="0">
              <a:lnSpc>
                <a:spcPct val="162162"/>
              </a:lnSpc>
              <a:spcBef>
                <a:spcPts val="0"/>
              </a:spcBef>
              <a:spcAft>
                <a:spcPts val="0"/>
              </a:spcAft>
              <a:buClr>
                <a:srgbClr val="2B3541"/>
              </a:buClr>
              <a:buSzPts val="1850"/>
              <a:buFont typeface="Times New Roman"/>
              <a:buNone/>
            </a:pPr>
            <a:r>
              <a:rPr lang="en-US" sz="1850" b="1" dirty="0">
                <a:solidFill>
                  <a:srgbClr val="2B3541"/>
                </a:solidFill>
                <a:latin typeface="Times New Roman"/>
                <a:ea typeface="Times New Roman"/>
                <a:cs typeface="Times New Roman"/>
                <a:sym typeface="Times New Roman"/>
              </a:rPr>
              <a:t>2.</a:t>
            </a:r>
            <a:r>
              <a:rPr lang="en-US" sz="1850" b="1" i="0" u="none" strike="noStrike" cap="none" dirty="0">
                <a:solidFill>
                  <a:srgbClr val="2B3541"/>
                </a:solidFill>
                <a:latin typeface="Times New Roman"/>
                <a:ea typeface="Times New Roman"/>
                <a:cs typeface="Times New Roman"/>
                <a:sym typeface="Times New Roman"/>
              </a:rPr>
              <a:t>AI-Powered Voice Assistant &amp; Multilingual Support </a:t>
            </a:r>
            <a:r>
              <a:rPr lang="en-US" sz="1850" b="0" i="0" u="none" strike="noStrike" cap="none" dirty="0">
                <a:solidFill>
                  <a:srgbClr val="2B3541"/>
                </a:solidFill>
                <a:latin typeface="Times New Roman"/>
                <a:ea typeface="Times New Roman"/>
                <a:cs typeface="Times New Roman"/>
                <a:sym typeface="Times New Roman"/>
              </a:rPr>
              <a:t>– </a:t>
            </a: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Enhancing the system with a voice-enabled assistant and support for multiple languages will improve accessibility. Users can interact naturally in their preferred language, making the solution more inclusive and suitable for diverse populations, especially in regions with varied linguistic backgrounds.</a:t>
            </a: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58849"/>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id="{4837D5EE-379B-FDC5-0854-8AC81D31FADF}"/>
              </a:ext>
            </a:extLst>
          </p:cNvPr>
          <p:cNvSpPr txBox="1"/>
          <p:nvPr/>
        </p:nvSpPr>
        <p:spPr>
          <a:xfrm>
            <a:off x="552048" y="690061"/>
            <a:ext cx="638996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err="1"/>
              <a:t>Credly</a:t>
            </a:r>
            <a:r>
              <a:rPr lang="en-US" sz="2800" b="1" dirty="0"/>
              <a:t> certificate </a:t>
            </a:r>
          </a:p>
        </p:txBody>
      </p:sp>
      <p:pic>
        <p:nvPicPr>
          <p:cNvPr id="5" name="Picture 4">
            <a:extLst>
              <a:ext uri="{FF2B5EF4-FFF2-40B4-BE49-F238E27FC236}">
                <a16:creationId xmlns:a16="http://schemas.microsoft.com/office/drawing/2014/main" id="{B0471807-77FD-43C4-BB7E-E2AC48092DD8}"/>
              </a:ext>
            </a:extLst>
          </p:cNvPr>
          <p:cNvPicPr>
            <a:picLocks noChangeAspect="1"/>
          </p:cNvPicPr>
          <p:nvPr/>
        </p:nvPicPr>
        <p:blipFill>
          <a:blip r:embed="rId2"/>
          <a:stretch>
            <a:fillRect/>
          </a:stretch>
        </p:blipFill>
        <p:spPr>
          <a:xfrm>
            <a:off x="2667000" y="1213280"/>
            <a:ext cx="6858000" cy="5244669"/>
          </a:xfrm>
          <a:prstGeom prst="rect">
            <a:avLst/>
          </a:prstGeom>
        </p:spPr>
      </p:pic>
    </p:spTree>
    <p:extLst>
      <p:ext uri="{BB962C8B-B14F-4D97-AF65-F5344CB8AC3E}">
        <p14:creationId xmlns:p14="http://schemas.microsoft.com/office/powerpoint/2010/main" val="12290476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dirty="0">
                <a:solidFill>
                  <a:srgbClr val="000000"/>
                </a:solidFill>
                <a:latin typeface="Arial"/>
              </a:rPr>
              <a:t>Certificates Earned:</a:t>
            </a:r>
            <a:r>
              <a:rPr sz="2400" b="0" i="0" dirty="0">
                <a:solidFill>
                  <a:srgbClr val="000000"/>
                </a:solidFill>
                <a:latin typeface="Arial"/>
                <a:ea typeface="Arial"/>
                <a:cs typeface="Arial"/>
              </a:rPr>
              <a:t>​</a:t>
            </a:r>
            <a:endParaRPr lang="en-US" dirty="0"/>
          </a:p>
          <a:p>
            <a:pPr algn="ctr"/>
            <a:endParaRPr lang="en-US" dirty="0"/>
          </a:p>
        </p:txBody>
      </p:sp>
      <p:sp>
        <p:nvSpPr>
          <p:cNvPr id="6" name="TextBox 5">
            <a:extLst>
              <a:ext uri="{FF2B5EF4-FFF2-40B4-BE49-F238E27FC236}">
                <a16:creationId xmlns:a16="http://schemas.microsoft.com/office/drawing/2014/main"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a:t>IBM BOB Certificate</a:t>
            </a:r>
          </a:p>
        </p:txBody>
      </p:sp>
      <p:pic>
        <p:nvPicPr>
          <p:cNvPr id="3" name="Picture 2">
            <a:extLst>
              <a:ext uri="{FF2B5EF4-FFF2-40B4-BE49-F238E27FC236}">
                <a16:creationId xmlns:a16="http://schemas.microsoft.com/office/drawing/2014/main" id="{D14872A4-C6F5-440F-A3F5-8E9796380322}"/>
              </a:ext>
            </a:extLst>
          </p:cNvPr>
          <p:cNvPicPr>
            <a:picLocks noChangeAspect="1"/>
          </p:cNvPicPr>
          <p:nvPr/>
        </p:nvPicPr>
        <p:blipFill>
          <a:blip r:embed="rId2"/>
          <a:stretch>
            <a:fillRect/>
          </a:stretch>
        </p:blipFill>
        <p:spPr>
          <a:xfrm>
            <a:off x="2862746" y="1200580"/>
            <a:ext cx="6819900" cy="5617111"/>
          </a:xfrm>
          <a:prstGeom prst="rect">
            <a:avLst/>
          </a:prstGeom>
        </p:spPr>
      </p:pic>
    </p:spTree>
    <p:extLst>
      <p:ext uri="{BB962C8B-B14F-4D97-AF65-F5344CB8AC3E}">
        <p14:creationId xmlns:p14="http://schemas.microsoft.com/office/powerpoint/2010/main" val="25066107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C4FB49-C90E-4C75-B809-539432FC1C81}"/>
              </a:ext>
            </a:extLst>
          </p:cNvPr>
          <p:cNvSpPr>
            <a:spLocks noGrp="1"/>
          </p:cNvSpPr>
          <p:nvPr>
            <p:ph type="title"/>
          </p:nvPr>
        </p:nvSpPr>
        <p:spPr>
          <a:xfrm>
            <a:off x="838200" y="1386181"/>
            <a:ext cx="10515600" cy="2852737"/>
          </a:xfrm>
        </p:spPr>
        <p:txBody>
          <a:bodyPr/>
          <a:lstStyle/>
          <a:p>
            <a:pPr algn="ctr">
              <a:lnSpc>
                <a:spcPct val="300000"/>
              </a:lnSpc>
            </a:pPr>
            <a:r>
              <a:rPr lang="en-IN" dirty="0"/>
              <a:t>THANK YOU!</a:t>
            </a:r>
          </a:p>
        </p:txBody>
      </p:sp>
    </p:spTree>
    <p:extLst>
      <p:ext uri="{BB962C8B-B14F-4D97-AF65-F5344CB8AC3E}">
        <p14:creationId xmlns:p14="http://schemas.microsoft.com/office/powerpoint/2010/main" val="3652874066"/>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220</TotalTime>
  <Words>1434</Words>
  <Application>Microsoft Office PowerPoint</Application>
  <PresentationFormat>Widescreen</PresentationFormat>
  <Paragraphs>114</Paragraphs>
  <Slides>14</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Times New Roman</vt:lpstr>
      <vt:lpstr>Wingdings</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ADMIN</cp:lastModifiedBy>
  <cp:revision>28</cp:revision>
  <dcterms:created xsi:type="dcterms:W3CDTF">2025-07-08T05:06:56Z</dcterms:created>
  <dcterms:modified xsi:type="dcterms:W3CDTF">2026-06-28T15:51:11Z</dcterms:modified>
</cp:coreProperties>
</file>